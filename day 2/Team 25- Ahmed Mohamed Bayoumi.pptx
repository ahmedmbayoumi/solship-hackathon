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Forecasting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640080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91440" cy="50292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55F6B"/>
                </a:solidFill>
                <a:latin typeface="Calibri"/>
              </a:rPr>
              <a:t>load · pv · weather · ARPA radiation · holidays · Italian TOU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.0" y="2194560"/>
            <a:ext cx="0.0" cy="164592"/>
          </a:xfrm>
          <a:prstGeom prst="line">
            <a:avLst/>
          </a:prstGeom>
          <a:ln w="15240">
            <a:solidFill>
              <a:srgbClr val="2A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2359152"/>
            <a:ext cx="640080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59152"/>
            <a:ext cx="91440" cy="50292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404872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v7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33472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55F6B"/>
                </a:solidFill>
                <a:latin typeface="Calibri"/>
              </a:rPr>
              <a:t>lag · rolling · wavelet · clear-sky physics · cyclical (153 cols)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.0" y="2862072"/>
            <a:ext cx="0.0" cy="164592"/>
          </a:xfrm>
          <a:prstGeom prst="line">
            <a:avLst/>
          </a:prstGeom>
          <a:ln w="15240">
            <a:solidFill>
              <a:srgbClr val="2A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" y="3026664"/>
            <a:ext cx="640080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026664"/>
            <a:ext cx="91440" cy="50292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72384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8-BAG LIGHTGBM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00984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55F6B"/>
                </a:solidFill>
                <a:latin typeface="Calibri"/>
              </a:rPr>
              <a:t>online retraining + walkforward · diverse light-reg configs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.0" y="3529584"/>
            <a:ext cx="0.0" cy="164592"/>
          </a:xfrm>
          <a:prstGeom prst="line">
            <a:avLst/>
          </a:prstGeom>
          <a:ln w="15240">
            <a:solidFill>
              <a:srgbClr val="2A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0080" y="3694176"/>
            <a:ext cx="640080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694176"/>
            <a:ext cx="91440" cy="50292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39896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LSTM-AE  (PyTorch · GPU)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68496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55F6B"/>
                </a:solidFill>
                <a:latin typeface="Calibri"/>
              </a:rPr>
              <a:t>encoder 4 → 32 → 16 bottleneck on past-96 windows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.0" y="4197096"/>
            <a:ext cx="0.0" cy="164592"/>
          </a:xfrm>
          <a:prstGeom prst="line">
            <a:avLst/>
          </a:prstGeom>
          <a:ln w="15240">
            <a:solidFill>
              <a:srgbClr val="2A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" y="4361688"/>
            <a:ext cx="640080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361688"/>
            <a:ext cx="91440" cy="50292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07408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5-FOLD CV-NNLS BLEND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636008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55F6B"/>
                </a:solidFill>
                <a:latin typeface="Calibri"/>
              </a:rPr>
              <a:t>honest stacking — per-fold weights from out-of-fold residuals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.0" y="4864608"/>
            <a:ext cx="0.0" cy="164592"/>
          </a:xfrm>
          <a:prstGeom prst="line">
            <a:avLst/>
          </a:prstGeom>
          <a:ln w="15240">
            <a:solidFill>
              <a:srgbClr val="2A5D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0080" y="5029200"/>
            <a:ext cx="640080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029200"/>
            <a:ext cx="91440" cy="50292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074920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MA(3) + α-RESCALE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03520"/>
            <a:ext cx="61264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55F6B"/>
                </a:solidFill>
                <a:latin typeface="Calibri"/>
              </a:rPr>
              <a:t>variance-preserving smoothing (no test actuals used)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96712"/>
            <a:ext cx="6400800" cy="50292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806440"/>
            <a:ext cx="64008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FINAL FORECAST  →  feeds MPC dispatch 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1691640"/>
            <a:ext cx="414497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2025 test 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2011680"/>
            <a:ext cx="414497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55F6B"/>
                </a:solidFill>
                <a:latin typeface="Calibri"/>
              </a:rPr>
              <a:t>(April + September, 5760 timesteps)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560320"/>
            <a:ext cx="4144975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6400" b="1" i="0">
                <a:solidFill>
                  <a:srgbClr val="0F2D52"/>
                </a:solidFill>
                <a:latin typeface="Calibri"/>
              </a:rPr>
              <a:t>52.17%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520440"/>
            <a:ext cx="414497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A5DAA"/>
                </a:solidFill>
                <a:latin typeface="Calibri"/>
              </a:rPr>
              <a:t>NRMSE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3794760"/>
            <a:ext cx="414497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55F6B"/>
                </a:solidFill>
                <a:latin typeface="Calibri"/>
              </a:rPr>
              <a:t>primary ranking metric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297680"/>
            <a:ext cx="22797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F6B"/>
                </a:solidFill>
                <a:latin typeface="Calibri"/>
              </a:rPr>
              <a:t>RMSE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69256" y="4297680"/>
            <a:ext cx="186523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 i="0">
                <a:solidFill>
                  <a:srgbClr val="0F2D52"/>
                </a:solidFill>
                <a:latin typeface="Calibri"/>
              </a:rPr>
              <a:t>0.470 kW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626864"/>
            <a:ext cx="22797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F6B"/>
                </a:solidFill>
                <a:latin typeface="Calibri"/>
              </a:rPr>
              <a:t>MAE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69256" y="4626864"/>
            <a:ext cx="186523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 i="0">
                <a:solidFill>
                  <a:srgbClr val="0F2D52"/>
                </a:solidFill>
                <a:latin typeface="Calibri"/>
              </a:rPr>
              <a:t>0.283 kW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4956048"/>
            <a:ext cx="22797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F6B"/>
                </a:solidFill>
                <a:latin typeface="Calibri"/>
              </a:rPr>
              <a:t>April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69256" y="4956048"/>
            <a:ext cx="186523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 i="0">
                <a:solidFill>
                  <a:srgbClr val="0F2D52"/>
                </a:solidFill>
                <a:latin typeface="Calibri"/>
              </a:rPr>
              <a:t>48.40 %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5285232"/>
            <a:ext cx="227973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F6B"/>
                </a:solidFill>
                <a:latin typeface="Calibri"/>
              </a:rPr>
              <a:t>September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9256" y="5285232"/>
            <a:ext cx="186523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 i="0">
                <a:solidFill>
                  <a:srgbClr val="0F2D52"/>
                </a:solidFill>
                <a:latin typeface="Calibri"/>
              </a:rPr>
              <a:t>56.50 %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Controller approach  ·  Rolling-horizon MPC, H = 96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MPC LOOP — at each 15-min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95144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Get load forecast for next H = 96 steps (24 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25496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16936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44368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971800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Solve LP — 481 vars: p_chg, p_dis, p_imp, p_exp, soc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02152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93592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21024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48456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Apply hard constraints — SoC ∈ [0,1], ±8 kW battery, ±6 kW grid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78808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70248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325112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Execute first action only (discard the rest)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55464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946904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74336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01768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Update SoC from realised battery action, advance to t+1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691640"/>
            <a:ext cx="42364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OPTIMIZER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057400"/>
            <a:ext cx="42364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F2D52"/>
                </a:solidFill>
                <a:latin typeface="Calibri"/>
              </a:rPr>
              <a:t>scipy.optimize.linprog  (HiGHS)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2468880"/>
            <a:ext cx="4236415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→  Linear program — convex, polynomial-time, single global optimum
→  Open-source, deterministic, ~10 ms per H=96 solve
→  No MIP needed: at non-negative tariffs, LP picks one direction naturally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114800"/>
            <a:ext cx="42364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WHY H = 96  (24-hour horizon)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4572000"/>
            <a:ext cx="4236415" cy="256032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459028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3732" y="459028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Bill (€)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4657" y="459028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vs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86460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3732" y="486460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+63.71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24657" y="486460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+71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13892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3732" y="513892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+6.22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4657" y="513892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+14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413247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3732" y="5413247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−16.71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24657" y="5413247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−9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0" y="5669280"/>
            <a:ext cx="4236415" cy="256032"/>
          </a:xfrm>
          <a:prstGeom prst="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0" y="568756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</a:rPr>
              <a:t>96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3732" y="568756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</a:rPr>
              <a:t>−18.89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24657" y="568756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</a:rPr>
              <a:t>−11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0" y="6108192"/>
            <a:ext cx="423641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55F6B"/>
                </a:solidFill>
                <a:latin typeface="Calibri"/>
              </a:rPr>
              <a:t>Captures full F3-night → F1-day arbitrage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March Week 3 dispatch  ·  Mar 17 – 23,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rch_week3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881360" cy="72319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F6B"/>
                </a:solidFill>
                <a:latin typeface="Calibri"/>
              </a:rPr>
              <a:t>All hard constraints respected: battery [-5.2, +3.8] kW (limit ±8) · grid [-1.4, +4.7] kW (limit ±6) · SoC [0%, 97.5%]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Results  ·  90% of oracle savings  ·  +154% vs Baseline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mulative_bill_4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315200" cy="24861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F6B"/>
                </a:solidFill>
                <a:latin typeface="Calibri"/>
              </a:rPr>
              <a:t>Cumulative electricity bill — April + September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91640"/>
            <a:ext cx="377921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A5DAA"/>
                </a:solidFill>
                <a:latin typeface="Calibri"/>
              </a:rPr>
              <a:t>Bill summary  (Apr + Sept, H=96)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194560"/>
            <a:ext cx="3779216" cy="329184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39" y="2240280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98392" y="2240280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39" y="2624328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2D52"/>
                </a:solidFill>
                <a:latin typeface="Calibri"/>
              </a:rPr>
              <a:t>Baseline B (no battery)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98392" y="2624328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0F2D52"/>
                </a:solidFill>
                <a:latin typeface="Calibri"/>
              </a:rPr>
              <a:t>€+68.74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39" y="3008376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2D52"/>
                </a:solidFill>
                <a:latin typeface="Calibri"/>
              </a:rPr>
              <a:t>Baseline A (historical)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98392" y="3008376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0F2D52"/>
                </a:solidFill>
                <a:latin typeface="Calibri"/>
              </a:rPr>
              <a:t>€-7.44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346704"/>
            <a:ext cx="3779216" cy="329184"/>
          </a:xfrm>
          <a:prstGeom prst="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39" y="3392424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</a:rPr>
              <a:t>Our controller (MPC)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98392" y="3392424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0F2D52"/>
                </a:solidFill>
                <a:latin typeface="Calibri"/>
              </a:rPr>
              <a:t>€-18.89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39" y="3776472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2D52"/>
                </a:solidFill>
                <a:latin typeface="Calibri"/>
              </a:rPr>
              <a:t>Oracle (perfect)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8392" y="3776472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0F2D52"/>
                </a:solidFill>
                <a:latin typeface="Calibri"/>
              </a:rPr>
              <a:t>€-20.14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572000"/>
            <a:ext cx="377921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Savings vs Baseline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892040"/>
            <a:ext cx="3779216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F2D52"/>
                </a:solidFill>
                <a:latin typeface="Calibri"/>
              </a:rPr>
              <a:t>+€11.45  (+154%)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532120"/>
            <a:ext cx="377921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Oracle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852160"/>
            <a:ext cx="3779216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F2D52"/>
                </a:solidFill>
                <a:latin typeface="Calibri"/>
              </a:rPr>
              <a:t>€1.26   (90% captured)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6446520"/>
            <a:ext cx="377921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2A5DAA"/>
                </a:solidFill>
                <a:latin typeface="Calibri"/>
              </a:rPr>
              <a:t>✓ Extension 1 done (H sweep 4 → 96)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Generalization  ·  surprise dataset (March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rprise_forecas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772400" cy="22982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84048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F6B"/>
                </a:solidFill>
                <a:latin typeface="Calibri"/>
              </a:rPr>
              <a:t>March 2026 surprise dataset — full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69164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Surprise dataset NRMSE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194560"/>
            <a:ext cx="3139135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200" b="1" i="0">
                <a:solidFill>
                  <a:srgbClr val="0F2D52"/>
                </a:solidFill>
                <a:latin typeface="Calibri"/>
              </a:rPr>
              <a:t>32.16%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33756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F6B"/>
                </a:solidFill>
                <a:latin typeface="Calibri"/>
              </a:rPr>
              <a:t>down from 52.17% on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02336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29768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</a:rPr>
              <a:t>1.05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75488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02920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</a:rPr>
              <a:t>0.63 kW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55F6B"/>
                </a:solidFill>
                <a:latin typeface="Calibri"/>
              </a:rPr>
              <a:t>Same architecture — no retuning, just rebuilt features and refit on the new site (3× larger consumer → better signal-to-noise).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Hardest problem  · 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72887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HARDEST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272887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F2D52"/>
                </a:solidFill>
                <a:latin typeface="Calibri"/>
              </a:rPr>
              <a:t>NRMSE ≠ Bill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272887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F6B"/>
                </a:solidFill>
                <a:latin typeface="Calibri"/>
              </a:rPr>
              <a:t>We discovered a Pareto trade-off:
smoothing the forecast lowered NRMSE
(60.4 % → 52.2 %), but the LP under-charged
before peaks, raising the bill
(−€18.89 → −€18.23).
NRMSE penalises errors symmetrically,
but the bill is asymmetric in peak timing.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5272887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FIX  —  spike-preserving 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5272887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2D52"/>
                </a:solidFill>
                <a:latin typeface="Calibri"/>
              </a:rPr>
              <a:t>Smooth where |raw − MA(3)| &lt; 0.4 kW (= noise),
keep raw where |residual| &gt; 0.4 kW (= real spike).
→ Pareto win: NRMSE 60.4 → 57.8 %
    AND bill −€18.89 → −€18.91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91640"/>
            <a:ext cx="5272887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103120"/>
            <a:ext cx="5272887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F2D52"/>
                </a:solidFill>
                <a:latin typeface="Calibri"/>
              </a:rPr>
              <a:t>Given one more 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697480"/>
            <a:ext cx="54864" cy="77724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2697480"/>
            <a:ext cx="509000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Decision-focused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990088"/>
            <a:ext cx="5090007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Train the forecaster directly on the bill (SPO+ — Elmachtoub &amp; Grigas, Mgmt Sci 2022).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3657600"/>
            <a:ext cx="54864" cy="77724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3657600"/>
            <a:ext cx="509000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PV forecast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950208"/>
            <a:ext cx="5090007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Pair load forecast with a separate PV model using ARPA radiation directly.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4617720"/>
            <a:ext cx="54864" cy="77724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4617720"/>
            <a:ext cx="509000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Tariff-band-aware smoothing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4910328"/>
            <a:ext cx="5090007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Smooth only F3 hours; keep F1 raw for peak fidelity.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5577840"/>
            <a:ext cx="54864" cy="77724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607" y="5577840"/>
            <a:ext cx="509000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Battery degradation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5870448"/>
            <a:ext cx="5090007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Add cycle-count penalty to LP (already wired, set to 0 here).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Ahmed Mohamed Bayoumi  ·  Team 15  ·  Energy 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