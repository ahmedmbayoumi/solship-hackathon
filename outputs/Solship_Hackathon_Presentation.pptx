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Forecasting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338560" cy="50751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212080"/>
            <a:ext cx="2682163" cy="13716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2682163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52.17%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NRMSE  (★ primary)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2243" y="5212080"/>
            <a:ext cx="2682163" cy="13716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2243" y="5394960"/>
            <a:ext cx="2682163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0.470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243" y="612648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5212080"/>
            <a:ext cx="2682163" cy="13716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5394960"/>
            <a:ext cx="2682163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0.283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612648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331" y="5212080"/>
            <a:ext cx="2682163" cy="13716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331" y="5394960"/>
            <a:ext cx="2682163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48 / 57 %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331" y="612648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NRMSE  Apr / Sept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12772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2025 test set  ·  April + September  ·  5760 timesteps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Controller approach  ·  Rolling-horizon MPC, H = 96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MPC LOOP — at each 15-min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95144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Get load forecast for next H = 96 steps (24 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25496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16936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44368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971800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Solve LP — 481 vars: p_chg, p_dis, p_imp, p_exp, soc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02152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93592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21024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648456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Apply hard constraints — SoC ∈ [0,1], ±8 kW battery, ±6 kW grid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78808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25112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Execute first action only (discard the rest)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55464"/>
            <a:ext cx="6400800" cy="566928"/>
          </a:xfrm>
          <a:prstGeom prst="rect">
            <a:avLst/>
          </a:prstGeom>
          <a:solidFill>
            <a:srgbClr val="F6F8FC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946904"/>
            <a:ext cx="384048" cy="384048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74336"/>
            <a:ext cx="384048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01768"/>
            <a:ext cx="5715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F2D52"/>
                </a:solidFill>
                <a:latin typeface="Calibri"/>
              </a:rPr>
              <a:t>Update SoC from realised battery action, advance to t+1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691640"/>
            <a:ext cx="4236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057400"/>
            <a:ext cx="4236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F2D52"/>
                </a:solidFill>
                <a:latin typeface="Calibri"/>
              </a:rPr>
              <a:t>scipy.optimize.linprog  (HiGHS)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2468880"/>
            <a:ext cx="4236415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→  Linear program — convex, polynomial-time, single global optimum
→  Open-source, deterministic, ~10 ms per H=96 solve
→  No MIP needed: at non-negative tariffs, LP picks one direction naturally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14800"/>
            <a:ext cx="42364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WHY H = 96  (24-hour horizon)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4572000"/>
            <a:ext cx="4236415" cy="256032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59028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3732" y="459028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Bill (€)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4657" y="459028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vs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86460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3732" y="486460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+63.71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4657" y="486460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13892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3732" y="513892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+6.22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4657" y="513892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+14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413247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3732" y="5413247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−16.71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24657" y="5413247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F2D52"/>
                </a:solidFill>
                <a:latin typeface="Calibri"/>
              </a:rPr>
              <a:t>−9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0" y="5669280"/>
            <a:ext cx="4236415" cy="256032"/>
          </a:xfrm>
          <a:prstGeom prst="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0" y="568756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</a:rPr>
              <a:t>96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3732" y="568756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</a:rPr>
              <a:t>−18.89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24657" y="5687568"/>
            <a:ext cx="1270924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F2D52"/>
                </a:solidFill>
                <a:latin typeface="Calibri"/>
              </a:rPr>
              <a:t>−11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6108192"/>
            <a:ext cx="423641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55F6B"/>
                </a:solidFill>
                <a:latin typeface="Calibri"/>
              </a:rPr>
              <a:t>Captures full F3-night → F1-day arbitrage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March Week 3 dispatch  ·  Mar 17 – 23,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ch_week3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881360" cy="72319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All hard constraints respected: battery [-5.2, +3.8] kW (limit ±8) · grid [-1.4, +4.7] kW (limit ±6) · SoC [0%, 97.5%]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Results  ·  90% of oracle savings  ·  +154% vs Baseline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mulative_bill_4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315200" cy="24861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Cumulative electricity bill — April + September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91640"/>
            <a:ext cx="37792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A5DAA"/>
                </a:solidFill>
                <a:latin typeface="Calibri"/>
              </a:rPr>
              <a:t>Bill summary  (Apr + Sept, H=96)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194560"/>
            <a:ext cx="3779216" cy="329184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39" y="2240280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98392" y="2240280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39" y="2624328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Baseline B (no battery)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98392" y="2624328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0F2D52"/>
                </a:solidFill>
                <a:latin typeface="Calibri"/>
              </a:rPr>
              <a:t>€+68.74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3008376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Baseline A (historical)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8392" y="3008376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0F2D52"/>
                </a:solidFill>
                <a:latin typeface="Calibri"/>
              </a:rPr>
              <a:t>€-7.44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346704"/>
            <a:ext cx="3779216" cy="329184"/>
          </a:xfrm>
          <a:prstGeom prst="rect">
            <a:avLst/>
          </a:prstGeom>
          <a:solidFill>
            <a:srgbClr val="DAE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3392424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F2D52"/>
                </a:solidFill>
                <a:latin typeface="Calibri"/>
              </a:rPr>
              <a:t>Our controller (MPC)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8392" y="3392424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 i="0">
                <a:solidFill>
                  <a:srgbClr val="0F2D52"/>
                </a:solidFill>
                <a:latin typeface="Calibri"/>
              </a:rPr>
              <a:t>€-18.89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39" y="3776472"/>
            <a:ext cx="2343113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Oracle (perfect)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8392" y="3776472"/>
            <a:ext cx="120934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 i="0">
                <a:solidFill>
                  <a:srgbClr val="0F2D52"/>
                </a:solidFill>
                <a:latin typeface="Calibri"/>
              </a:rPr>
              <a:t>€-20.14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572000"/>
            <a:ext cx="37792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Savings vs Baseline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92040"/>
            <a:ext cx="3779216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+€11.45  (+154%)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532120"/>
            <a:ext cx="3779216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Oracle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852160"/>
            <a:ext cx="3779216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€1.26   (90% captured)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6446520"/>
            <a:ext cx="3779216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2A5DAA"/>
                </a:solidFill>
                <a:latin typeface="Calibri"/>
              </a:rPr>
              <a:t>✓ Extension 1 done (H sweep 4 → 96)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Generalization  ·  surprise dataset (March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rprise_forecas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772400" cy="22982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1">
                <a:solidFill>
                  <a:srgbClr val="555F6B"/>
                </a:solidFill>
                <a:latin typeface="Calibri"/>
              </a:rPr>
              <a:t>March 2026 surprise dataset — full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9164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Surprise dataset NRMSE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194560"/>
            <a:ext cx="3139135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200" b="1" i="0">
                <a:solidFill>
                  <a:srgbClr val="0F2D52"/>
                </a:solidFill>
                <a:latin typeface="Calibri"/>
              </a:rPr>
              <a:t>32.16%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33756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F6B"/>
                </a:solidFill>
                <a:latin typeface="Calibri"/>
              </a:rPr>
              <a:t>down from 52.17% on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02336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</a:rPr>
              <a:t>1.05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5488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F6B"/>
                </a:solidFill>
                <a:latin typeface="Calibri"/>
              </a:rP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029200"/>
            <a:ext cx="313913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F2D52"/>
                </a:solidFill>
                <a:latin typeface="Calibri"/>
              </a:rPr>
              <a:t>0.63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11535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F6B"/>
                </a:solidFill>
                <a:latin typeface="Calibri"/>
              </a:rPr>
              <a:t>Same architecture — no retuning, just rebuilt features and refit on the new site (3× larger consumer → better signal-to-noise).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200" b="1" i="0">
                <a:solidFill>
                  <a:srgbClr val="2A5DAA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F2D52"/>
                </a:solidFill>
                <a:latin typeface="Calibri"/>
              </a:rPr>
              <a:t>Hardest problem  · 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7295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HARDEST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272887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NRMSE ≠ Bill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272887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F6B"/>
                </a:solidFill>
                <a:latin typeface="Calibri"/>
              </a:rPr>
              <a:t>We discovered a Pareto trade-off:
smoothing the forecast lowered NRMSE
(60.4 % → 52.2 %), but the LP under-charged
before peaks, raising the bill
(−€18.89 → −€18.23).
NRMSE penalises errors symmetrically,
but the bill is asymmetric in peak timing.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5272887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FIX  —  spike-preserving 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5272887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F2D52"/>
                </a:solidFill>
                <a:latin typeface="Calibri"/>
              </a:rPr>
              <a:t>Smooth where |raw − MA(3)| &lt; 0.4 kW (= noise),
keep raw where |residual| &gt; 0.4 kW (= real spike).
→ Pareto win: NRMSE 60.4 → 57.8 %
    AND bill −€18.89 → −€18.91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91640"/>
            <a:ext cx="5272887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5DAA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103120"/>
            <a:ext cx="5272887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F2D52"/>
                </a:solidFill>
                <a:latin typeface="Calibri"/>
              </a:rPr>
              <a:t>Given one more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69748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269748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Decision-focused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99008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Train the forecaster directly on the bill (SPO+ — Elmachtoub &amp; Grigas, Mgmt Sci 2022).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365760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365760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PV forecast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95020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Pair load forecast with a separate PV model using ARPA radiation directly.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61772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461772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Tariff-band-aware smoothing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491032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Smooth only F3 hours; keep F1 raw for peak fidelity.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5577840"/>
            <a:ext cx="54864" cy="777240"/>
          </a:xfrm>
          <a:prstGeom prst="rect">
            <a:avLst/>
          </a:prstGeom>
          <a:solidFill>
            <a:srgbClr val="2A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5577840"/>
            <a:ext cx="5090007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F2D52"/>
                </a:solidFill>
                <a:latin typeface="Calibri"/>
              </a:rPr>
              <a:t>Battery degradation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5870448"/>
            <a:ext cx="5090007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55F6B"/>
                </a:solidFill>
                <a:latin typeface="Calibri"/>
              </a:rPr>
              <a:t>Add cycle-count penalty to LP (already wired, set to 0 here).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112772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Ahmed Mohamed Bayoumi  ·  Team 25  ·  Energy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